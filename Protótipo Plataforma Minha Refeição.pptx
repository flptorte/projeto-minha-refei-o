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16623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33169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MACKENZIE • FCI • CIÊNCIA DA COMPUTAÇÃO • PROJETO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55540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Plataforma Minha Refeição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15605"/>
            <a:ext cx="7334250" cy="866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Protótipo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Telas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&amp;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Sequência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do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Fluxo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Principal (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Caminho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Feliz) para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Assinatura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Plus Jakarta Sans"/>
              </a:rPr>
              <a:t>Marmitas</a:t>
            </a:r>
            <a:br>
              <a:rPr lang="pt-BR" sz="1650" b="0" i="0" u="none" dirty="0">
                <a:solidFill>
                  <a:srgbClr val="94A3B8"/>
                </a:solidFill>
                <a:latin typeface="Plus Jakarta Sans"/>
              </a:rPr>
            </a:br>
            <a:endParaRPr sz="165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4345185"/>
            <a:ext cx="5536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Caso de Uso: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Assinar Plano de Refeições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| Cenário de 32 Passos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758B580-C357-0F69-25ED-5D5C7436A55F}"/>
              </a:ext>
            </a:extLst>
          </p:cNvPr>
          <p:cNvSpPr txBox="1"/>
          <p:nvPr/>
        </p:nvSpPr>
        <p:spPr>
          <a:xfrm>
            <a:off x="762000" y="4921317"/>
            <a:ext cx="7334250" cy="277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pt-BR" sz="1650" dirty="0">
                <a:solidFill>
                  <a:srgbClr val="94A3B8"/>
                </a:solidFill>
                <a:latin typeface="Plus Jakarta Sans"/>
              </a:rPr>
              <a:t>Felipe Torte Pereira - 10417070</a:t>
            </a:r>
            <a:endParaRPr sz="1650" b="0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371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09937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09937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09937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CONTEXTO DE ENGENHARIA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Escopo do Caso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Fundamentação para a sequência de prototipagem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718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Atores e Papéis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86212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Principal: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Assinante (cliente final)</a:t>
            </a:r>
            <a:r>
              <a:t>
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Secundário: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Operadora de Cartão de Crédito (autorização externa)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6718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Pré-Condições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986212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Planos ativos cadastrados no banco e catálogo de refeições e adicionais atualizados na semana.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67188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Pós-Condições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986212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Assinatura com status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Ativa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, pagamento aprovado, protocolo emitido e envio de confirmação.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90762"/>
            <a:ext cx="3619500" cy="3314700"/>
          </a:xfrm>
          <a:prstGeom prst="roundRect">
            <a:avLst>
              <a:gd name="adj" fmla="val 4597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3450" y="3509962"/>
            <a:ext cx="29718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3450" y="4881562"/>
            <a:ext cx="2971800" cy="400050"/>
          </a:xfrm>
          <a:prstGeom prst="roundRect">
            <a:avLst>
              <a:gd name="adj" fmla="val 19047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50" y="2638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04900" y="2638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76350" y="2638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3450" y="4310062"/>
            <a:ext cx="6858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95450" y="4310062"/>
            <a:ext cx="6858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57450" y="4310062"/>
            <a:ext cx="6858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19450" y="4310062"/>
            <a:ext cx="6858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01 • PASSOS 1 A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Validação do Cliente via Celular e SMS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Identificação ágil do usuário sem atrito de senhas longas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947987"/>
            <a:ext cx="3714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Acesso Rápido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138487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Informe seu número de celular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605212"/>
            <a:ext cx="2800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Plus Jakarta Sans"/>
              </a:rPr>
              <a:t>(11) 98765-4321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014787"/>
            <a:ext cx="3714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Código SMS enviado para o número acima: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4995862"/>
            <a:ext cx="3486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Validar e Continuar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3052911"/>
            <a:ext cx="7658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Mapeamento de Requisitos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2614612"/>
            <a:ext cx="1857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app.minharefeicao.com.br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575" y="4310062"/>
            <a:ext cx="9715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Plus Jakarta San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2575" y="4310062"/>
            <a:ext cx="9715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4575" y="4310062"/>
            <a:ext cx="9715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Plus Jakarta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6575" y="4310062"/>
            <a:ext cx="9715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Plus Jakarta San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900" y="3472011"/>
            <a:ext cx="7143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59669"/>
                </a:solidFill>
                <a:latin typeface="Plus Jakarta Sans"/>
              </a:rPr>
              <a:t>Passo 1 &amp; 2: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Entrada do número de celular e disparo assíncrono do SMS com token de uso único (OTP).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900" y="4050952"/>
            <a:ext cx="76581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59669"/>
                </a:solidFill>
                <a:latin typeface="Plus Jakarta Sans"/>
              </a:rPr>
              <a:t>Passo 3 &amp; 4: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Validação automática ou via clique do código informado pelo assinante.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3900" y="4416623"/>
            <a:ext cx="71437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64748B"/>
                </a:solidFill>
                <a:latin typeface="Plus Jakarta Sans"/>
              </a:rPr>
              <a:t>Tratativa de Fluxo Alternativo (FA1):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Caso o código seja inválido, exibe alerta e permite até 3 tentativas antes de bloquear.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352425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24350" y="2805112"/>
            <a:ext cx="3543300" cy="22860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8150" y="2814637"/>
            <a:ext cx="352425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481512"/>
            <a:ext cx="3048000" cy="361950"/>
          </a:xfrm>
          <a:prstGeom prst="roundRect">
            <a:avLst>
              <a:gd name="adj" fmla="val 2105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24512" y="3081337"/>
            <a:ext cx="942975" cy="18097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4481512"/>
            <a:ext cx="3048000" cy="361950"/>
          </a:xfrm>
          <a:prstGeom prst="roundRect">
            <a:avLst>
              <a:gd name="adj" fmla="val 2105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96275" y="4481512"/>
            <a:ext cx="3048000" cy="361950"/>
          </a:xfrm>
          <a:prstGeom prst="roundRect">
            <a:avLst>
              <a:gd name="adj" fmla="val 2105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02 • PASSOS 5 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Seleção dos Planos de Assinatura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Exibição de periodicidade, volume de refeições e preços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668" y="3043237"/>
            <a:ext cx="3948112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Iniciante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6218" y="3043237"/>
            <a:ext cx="3948112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3328987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Semanal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3633787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5 refeições /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3957637"/>
            <a:ext cx="3810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lus Jakarta Sans"/>
              </a:rPr>
              <a:t>R$ 149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/sem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5" y="4576762"/>
            <a:ext cx="3619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Plus Jakarta Sans"/>
              </a:rPr>
              <a:t>Selecionar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7837" y="3109912"/>
            <a:ext cx="10763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FFFF"/>
                </a:solidFill>
                <a:latin typeface="Plus Jakarta Sans"/>
              </a:rPr>
              <a:t>MAIS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0" y="3328987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Pacote 15 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0" y="3633787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59669"/>
                </a:solidFill>
                <a:latin typeface="Plus Jakarta Sans"/>
              </a:rPr>
              <a:t>15 refeições selecionadas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0" y="3957637"/>
            <a:ext cx="3810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lus Jakarta Sans"/>
              </a:rPr>
              <a:t>R$ 389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/ciclo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4576762"/>
            <a:ext cx="3619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Plano Escolhido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0025" y="3328987"/>
            <a:ext cx="4000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Mensal VIP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5275" y="3633787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20 refeições / mês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5275" y="3957637"/>
            <a:ext cx="3810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lus Jakarta Sans"/>
              </a:rPr>
              <a:t>R$ 499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/mês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525" y="4576762"/>
            <a:ext cx="3619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475569"/>
                </a:solidFill>
                <a:latin typeface="Plus Jakarta Sans"/>
              </a:rPr>
              <a:t>Selecionar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24550" y="2978943"/>
            <a:ext cx="5657850" cy="1938337"/>
          </a:xfrm>
          <a:prstGeom prst="roundRect">
            <a:avLst>
              <a:gd name="adj" fmla="val 5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24550" y="2978943"/>
            <a:ext cx="38100" cy="193833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09862"/>
            <a:ext cx="5010150" cy="723900"/>
          </a:xfrm>
          <a:prstGeom prst="roundRect">
            <a:avLst>
              <a:gd name="adj" fmla="val 13157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586162"/>
            <a:ext cx="501015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62462"/>
            <a:ext cx="5010150" cy="723900"/>
          </a:xfrm>
          <a:prstGeom prst="roundRect">
            <a:avLst>
              <a:gd name="adj" fmla="val 131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91125" y="3852862"/>
            <a:ext cx="190500" cy="1905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125" y="4729162"/>
            <a:ext cx="190500" cy="1905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296703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95751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833812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710112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03 • PASSOS 7 A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Registro de Preferências Alimentares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Filtro de segurança e personalização para o cardápio dinâmico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7450" y="3283743"/>
            <a:ext cx="5924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Armazenamento no Sistema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9352" y="3721893"/>
            <a:ext cx="51054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As tags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selecionadas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alimentam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diretamente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o motor de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busca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catálogo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garantindo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que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assinante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visualize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unicamente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pratos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compatíveis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com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sua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dieta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2890837"/>
            <a:ext cx="245030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Opção Vegetariana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8725" y="3100387"/>
            <a:ext cx="2333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Sem proteínas de origem animal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3767137"/>
            <a:ext cx="213776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Tradicional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3976687"/>
            <a:ext cx="2035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Cardápio balanceado e livre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1575" y="4643437"/>
            <a:ext cx="251281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Sem Lactose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1575" y="4852987"/>
            <a:ext cx="2393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Zero derivados lácteos e queijos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33925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019425"/>
            <a:ext cx="188595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3530649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3371850"/>
            <a:ext cx="3530649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3371850"/>
            <a:ext cx="3530649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78274" y="409575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99424" y="409575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020573" y="4095750"/>
            <a:ext cx="361950" cy="247650"/>
          </a:xfrm>
          <a:prstGeom prst="roundRect">
            <a:avLst>
              <a:gd name="adj" fmla="val 2307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895850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04 • PASSOS 10 A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Montagem do Carrinho por Categorias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Pratos Principais, Acompanhamentos e Sobremesas com checagem de cota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724150"/>
            <a:ext cx="1981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1. Pratos Principais (15/15)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7950" y="2724150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2. Acompanhamentos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2724150"/>
            <a:ext cx="12001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3. Sobremesas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867275"/>
            <a:ext cx="6869906" cy="17145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Total selecionado: 15 de 15 refeições (Limite atingido conforme o plano contratado).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4876800"/>
            <a:ext cx="1952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Avançar para Endereço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571875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Risoto de Cogumelos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829050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Arroz arbóreo, shimeji e ervas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774" y="3571875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Lasanha de Berinjela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774" y="3829050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Molho de tomate artesanal e manjericão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924" y="3571875"/>
            <a:ext cx="3940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Quiche de Alho-Poró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924" y="3829050"/>
            <a:ext cx="3913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Massa integral e mix de sementes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1481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Vegetariano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3524" y="4133850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Plus Jakarta Sans"/>
              </a:rPr>
              <a:t>5x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0774" y="41481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Vegetariano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4674" y="4133850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Plus Jakarta Sans"/>
              </a:rPr>
              <a:t>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1924" y="4148137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Vegetariano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5823" y="4133850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Plus Jakarta Sans"/>
              </a:rPr>
              <a:t>5x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53340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57462"/>
            <a:ext cx="5334000" cy="2781300"/>
          </a:xfrm>
          <a:prstGeom prst="roundRect">
            <a:avLst>
              <a:gd name="adj" fmla="val 41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825" y="4410075"/>
            <a:ext cx="47815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405187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24625" y="4062412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24625" y="4719637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TELAS 05 &amp; 06 • PASSOS 19 A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Resumo do Pedido e Confirmação de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Validação da cesta e coleta precisa do ponto de recebimento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181350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Resumo do Carrinho (Passo 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833687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Endereço de Entrega (Passos 20 a 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55282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Plano Pacote 15 Dias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R$ 389,00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1952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15 Marmitas Vegetarianas </a:t>
            </a:r>
            <a:r>
              <a:rPr sz="1050" b="1" i="0" u="none">
                <a:solidFill>
                  <a:srgbClr val="059669"/>
                </a:solidFill>
                <a:latin typeface="Plus Jakarta Sans"/>
              </a:rPr>
              <a:t>Incluso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08622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Taxa de Entrega Programada </a:t>
            </a:r>
            <a:r>
              <a:rPr sz="1050" b="1" i="0" u="none">
                <a:solidFill>
                  <a:srgbClr val="059669"/>
                </a:solidFill>
                <a:latin typeface="Plus Jakarta Sans"/>
              </a:rPr>
              <a:t>Grátis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505325"/>
            <a:ext cx="4876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Total a Pagar </a:t>
            </a:r>
            <a:r>
              <a:rPr sz="1200" b="1" i="0" u="none">
                <a:solidFill>
                  <a:srgbClr val="059669"/>
                </a:solidFill>
                <a:latin typeface="Plus Jakarta Sans"/>
              </a:rPr>
              <a:t>R$ 389,00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205162"/>
            <a:ext cx="48768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862387"/>
            <a:ext cx="48768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Logradouro e Número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4519612"/>
            <a:ext cx="48768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Complemento / Instruções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3481387"/>
            <a:ext cx="4648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0000"/>
                </a:solidFill>
                <a:latin typeface="Plus Jakarta Sans"/>
              </a:rPr>
              <a:t>01302-907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138612"/>
            <a:ext cx="4648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0000"/>
                </a:solidFill>
                <a:latin typeface="Plus Jakarta Sans"/>
              </a:rPr>
              <a:t>Rua da Consolação, 930 - Prédio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4795837"/>
            <a:ext cx="4648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00000"/>
                </a:solidFill>
                <a:latin typeface="Plus Jakarta Sans"/>
              </a:rPr>
              <a:t>Mackenzie - FCI / Portaria Principal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5087"/>
            <a:ext cx="4000500" cy="268605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5825" y="4614862"/>
            <a:ext cx="3448050" cy="400050"/>
          </a:xfrm>
          <a:prstGeom prst="roundRect">
            <a:avLst>
              <a:gd name="adj" fmla="val 19047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262312"/>
            <a:ext cx="34480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681412"/>
            <a:ext cx="34480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14900" y="32527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14900" y="37766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14900" y="43005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4100512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7475" y="4100512"/>
            <a:ext cx="167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2881312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07 • PASSOS 23 A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Pagamento e Interação com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Transição de estado para Aguardando Pagamento e autorização bancária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118" y="4729162"/>
            <a:ext cx="40814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Autorizar R$ 389,00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895600"/>
            <a:ext cx="1750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Cartão de Crédito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338512"/>
            <a:ext cx="3314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4123 •••• •••• 8890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757612"/>
            <a:ext cx="3314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NOME DO TITULAR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2025" y="32527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2025" y="37766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2025" y="43005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59669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176712"/>
            <a:ext cx="1543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11/29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1775" y="4176712"/>
            <a:ext cx="1543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CVV 321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0200" y="3238500"/>
            <a:ext cx="536317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Status: Aguardando Pagamento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0200" y="3438525"/>
            <a:ext cx="5107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Passo 23: Pedido registrado, aguardando resposta da adquirente.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3762375"/>
            <a:ext cx="46380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Disparo para Operadora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3962400"/>
            <a:ext cx="4417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Passo 26: Envio criptografado do payload via API externa.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200" y="4286250"/>
            <a:ext cx="50881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Autorização Confirmada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200" y="4486275"/>
            <a:ext cx="4845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Passos 27 &amp; 28: Retorno HTTP 200/Sucesso e registro contábil.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6587" y="4429125"/>
            <a:ext cx="5838825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48337" y="4667250"/>
            <a:ext cx="9525" cy="4762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514600"/>
            <a:ext cx="6858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705100"/>
            <a:ext cx="2667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TELA 08 • PASSOS 29 A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Confirmação &amp; Assinatura Ativada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Encerramento do caso de uso com feedback claro ao assinante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8101" y="3390900"/>
            <a:ext cx="6375796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lus Jakarta Sans"/>
              </a:rPr>
              <a:t>Assinatura Confirmada com Sucesso!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4125" y="3800475"/>
            <a:ext cx="714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Sua assinatura agora possui status </a:t>
            </a:r>
            <a:r>
              <a:rPr sz="1200" b="1" i="0" u="none">
                <a:solidFill>
                  <a:srgbClr val="64748B"/>
                </a:solidFill>
                <a:latin typeface="Plus Jakarta Sans"/>
              </a:rPr>
              <a:t>Ativa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e seu lote de marmitas já entrou na linha de produção da cozinha central.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3312" y="4667250"/>
            <a:ext cx="17430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Protocolo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5537" y="4667250"/>
            <a:ext cx="2438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Primeira 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4905375"/>
            <a:ext cx="20597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#MR-2026-9841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5062" y="4905375"/>
            <a:ext cx="29170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59669"/>
                </a:solidFill>
                <a:latin typeface="Plus Jakarta Sans"/>
              </a:rPr>
              <a:t>Segunda-feira, 08h - 11h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684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Calibri</vt:lpstr>
      <vt:lpstr>Plus Jakarta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Felipe Torte Pereira</dc:creator>
  <cp:keywords/>
  <dc:description>generated using python-pptx</dc:description>
  <cp:lastModifiedBy>Felipe Torte Pereira</cp:lastModifiedBy>
  <cp:revision>2</cp:revision>
  <dcterms:created xsi:type="dcterms:W3CDTF">2013-01-27T09:14:16Z</dcterms:created>
  <dcterms:modified xsi:type="dcterms:W3CDTF">2026-09-20T21:59:36Z</dcterms:modified>
  <cp:category/>
</cp:coreProperties>
</file>